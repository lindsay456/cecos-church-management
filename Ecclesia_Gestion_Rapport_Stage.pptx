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4114800"/>
            <a:ext cx="1645920" cy="1645920"/>
          </a:xfrm>
          <a:prstGeom prst="ellipse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914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D4A03C"/>
                </a:solidFill>
                <a:latin typeface="Calibri Light"/>
              </a:defRPr>
            </a:pPr>
            <a:r>
              <a:t>RAPPORT DE STAGE ACADÉMIQUE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645920"/>
            <a:ext cx="1828800" cy="45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480"/>
              </a:lnSpc>
              <a:spcAft>
                <a:spcPts val="400"/>
              </a:spcAft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Ecclesia 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  <a:defRPr sz="2200" b="0">
                <a:solidFill>
                  <a:srgbClr val="A0C4E8"/>
                </a:solidFill>
                <a:latin typeface="Calibri Light"/>
              </a:defRPr>
            </a:pPr>
            <a:r>
              <a:t>Système de Gestion Administrative,</a:t>
            </a:r>
            <a:br/>
            <a:r>
              <a:t>Pastorale et Financière des Églises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572000"/>
            <a:ext cx="4114800" cy="27432"/>
          </a:xfrm>
          <a:prstGeom prst="rect">
            <a:avLst/>
          </a:prstGeom>
          <a:solidFill>
            <a:srgbClr val="3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Stagiaire : Lindsay Sarah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Année Académique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Aft>
                <a:spcPts val="400"/>
              </a:spcAft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0">
                <a:solidFill>
                  <a:srgbClr val="A0C4E8"/>
                </a:solidFill>
                <a:latin typeface="Calibri"/>
              </a:defRPr>
            </a:pPr>
            <a:r>
              <a:t>Plan de présentation du rapport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9144000" cy="502920"/>
          </a:xfrm>
          <a:prstGeom prst="round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0848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1">
                <a:solidFill>
                  <a:srgbClr val="D4A03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848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Présentation de l'entreprise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651760"/>
            <a:ext cx="9144000" cy="502920"/>
          </a:xfrm>
          <a:prstGeom prst="round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7249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1">
                <a:solidFill>
                  <a:srgbClr val="D4A03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249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Analyse de l'existant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291840"/>
            <a:ext cx="9144000" cy="502920"/>
          </a:xfrm>
          <a:prstGeom prst="round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36499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1">
                <a:solidFill>
                  <a:srgbClr val="D4A03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3649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Analyse des besoins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931920"/>
            <a:ext cx="9144000" cy="502920"/>
          </a:xfrm>
          <a:prstGeom prst="round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1">
                <a:solidFill>
                  <a:srgbClr val="D4A03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005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Méthodologie &amp; Architecture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572000"/>
            <a:ext cx="9144000" cy="502920"/>
          </a:xfrm>
          <a:prstGeom prst="round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64515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1">
                <a:solidFill>
                  <a:srgbClr val="D4A03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6451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Modélisation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212080"/>
            <a:ext cx="9144000" cy="502920"/>
          </a:xfrm>
          <a:prstGeom prst="round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52852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1">
                <a:solidFill>
                  <a:srgbClr val="D4A03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52852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Technologies utilisées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852160"/>
            <a:ext cx="9144000" cy="502920"/>
          </a:xfrm>
          <a:prstGeom prst="round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59253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1">
                <a:solidFill>
                  <a:srgbClr val="D4A03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92531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Perspectives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D4A03C"/>
                </a:solidFill>
                <a:latin typeface="Calibri Light"/>
              </a:defRPr>
            </a:pPr>
            <a: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Présentation de l'entreprise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A0C4E8"/>
                </a:solidFill>
                <a:latin typeface="Calibri Light"/>
              </a:defRPr>
            </a:pPr>
            <a:r>
              <a:t>Contexte et cadre du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CONTEXTE DU STAGE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Le Projet Ecclesia 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Application web de gestion pour églises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Supporte 3 dénominations : Catholique, Protestante, Adventiste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Gestion administrative, pastorale et financière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Architecture moderne Full-Stack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Objectifs du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Conception et développement d'une application web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Mise en pratique des connaissances acquises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Contribution à un projet réel et fonctionnel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Apprentissage des méthodologies Agile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0642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Environnement de Travail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Équipe de développement Full-Stack avec séparation Frontend / Backend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Méthodologie Agile avec itérations successives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Déploiement conteneurisé via Docker &amp; Docker Compose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Gestion de version avec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D4A03C"/>
                </a:solidFill>
                <a:latin typeface="Calibri Light"/>
              </a:defRPr>
            </a:pPr>
            <a: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Analyse de l'existant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A0C4E8"/>
                </a:solidFill>
                <a:latin typeface="Calibri Light"/>
              </a:defRPr>
            </a:pPr>
            <a:r>
              <a:t>Problèmes identifiés et problématique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PROBLÈMES IDENTIFIÉS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60320" cy="3200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737360"/>
            <a:ext cx="822960" cy="82296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Gestion manuelle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Les églises utilisent des registres</a:t>
            </a:r>
            <a:br/>
            <a:r>
              <a:t>papier pour suivre les membres,</a:t>
            </a:r>
            <a:br/>
            <a:r>
              <a:t>les dons et les présences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463040"/>
            <a:ext cx="2560320" cy="3200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0" y="1737360"/>
            <a:ext cx="822960" cy="822960"/>
          </a:xfrm>
          <a:prstGeom prst="ellipse">
            <a:avLst/>
          </a:prstGeom>
          <a:solidFill>
            <a:srgbClr val="E8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Absence de traçabilité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Pas de journal d'audit,</a:t>
            </a:r>
            <a:br/>
            <a:r>
              <a:t>perte de données historiques,</a:t>
            </a:r>
            <a:br/>
            <a:r>
              <a:t>aucune traçabilité des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560320" cy="3200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1737360"/>
            <a:ext cx="822960" cy="82296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Communication dispersée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Pas de système unifié de</a:t>
            </a:r>
            <a:br/>
            <a:r>
              <a:t>notifications ni de suivi</a:t>
            </a:r>
            <a:br/>
            <a:r>
              <a:t>pastoral structuré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463040"/>
            <a:ext cx="2560320" cy="320040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84080" y="173736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Finances opaques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004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Absence de contrôle budgétaire,</a:t>
            </a:r>
            <a:br/>
            <a:r>
              <a:t>pas de validation financière,</a:t>
            </a:r>
            <a:br/>
            <a:r>
              <a:t>reçus non automatisés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Aft>
                <a:spcPts val="400"/>
              </a:spcAft>
              <a:defRPr sz="1400" b="1">
                <a:solidFill>
                  <a:srgbClr val="333333"/>
                </a:solidFill>
                <a:latin typeface="Calibri"/>
              </a:defRPr>
            </a:pPr>
            <a:r>
              <a:t>Problématique : Comment concevoir un système intégré de gestion capable d'optimiser l'administration, le suivi pastoral et la gestion financière des églises multi-dénominationnelles tout en garantissant la sécurité des données et la traçabilité des opérations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D4A03C"/>
                </a:solidFill>
                <a:latin typeface="Calibri Light"/>
              </a:defRPr>
            </a:pPr>
            <a: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Analyse des besoins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A0C4E8"/>
                </a:solidFill>
                <a:latin typeface="Calibri Light"/>
              </a:defRPr>
            </a:pPr>
            <a:r>
              <a:t>Besoins fonctionnels et non fonctionnels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BESOINS FONCTIONNELS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Gestion des Membres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Inscription et profil complet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Numéros automatiques (MEM000001)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Statuts : Actif, Inactif, Transféré...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Transferts inter-églises avec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737360"/>
            <a:ext cx="457200" cy="457200"/>
          </a:xfrm>
          <a:prstGeom prst="ellipse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Gestion Financière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Recettes, dépenses, budgets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6 modes de paiement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Workflow d'approbation multi-niveaux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Justificatifs et pièces jointes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63040"/>
            <a:ext cx="34747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9" y="1737360"/>
            <a:ext cx="457200" cy="45720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7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Dons &amp; Redistributions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2860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Dîmes, offrandes, fonds dédiés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Génération automatique de reçus PDF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Règles de redistribution (Adventiste)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Envoi par email / WhatsApp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Suivi Pastoral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Visites, appels, counselings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Niveaux de confidentialité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Planification des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29768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45720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Événements &amp; Présences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1206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Planification multi-types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Suivi des présences par session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Statistiques démographiques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429768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29599" y="4572000"/>
            <a:ext cx="457200" cy="45720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79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Hiérarchie &amp; RBAC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51206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Multi-dénomination avec validation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11 rôles avec portées différentes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Journal d'audit complet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BESOINS NON FONCTIONNELS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Authentification JWT,</a:t>
            </a:r>
            <a:br/>
            <a:r>
              <a:t>RBAC, chiffrement,</a:t>
            </a:r>
            <a:br/>
            <a:r>
              <a:t>journal d'audit immuable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737360"/>
            <a:ext cx="548640" cy="548640"/>
          </a:xfrm>
          <a:prstGeom prst="ellipse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API REST optimisée,</a:t>
            </a:r>
            <a:br/>
            <a:r>
              <a:t>pagination, indexation</a:t>
            </a:r>
            <a:br/>
            <a:r>
              <a:t>PostgreSQL/PostGIS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737360"/>
            <a:ext cx="548640" cy="54864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Scalabilité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774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Architecture microservices,</a:t>
            </a:r>
            <a:br/>
            <a:r>
              <a:t>Docker, cache Redis,</a:t>
            </a:r>
            <a:br/>
            <a:r>
              <a:t>workers Celery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Disponibilité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99.9% uptime,</a:t>
            </a:r>
            <a:br/>
            <a:r>
              <a:t>Gunicorn + Nginx,</a:t>
            </a:r>
            <a:br/>
            <a:r>
              <a:t>sauvegardes auto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02336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42976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Ergonomie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Interface Angular Material,</a:t>
            </a:r>
            <a:br/>
            <a:r>
              <a:t>responsive, tableaux</a:t>
            </a:r>
            <a:br/>
            <a:r>
              <a:t>de bord interactifs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02336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0" y="4297680"/>
            <a:ext cx="548640" cy="54864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343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B1D3A"/>
                </a:solidFill>
                <a:latin typeface="Calibri"/>
              </a:defRPr>
            </a:pPr>
            <a:r>
              <a:t>Interopérabilité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API RESTful documentée</a:t>
            </a:r>
            <a:br/>
            <a:r>
              <a:t>Swagger, exports</a:t>
            </a:r>
            <a:br/>
            <a:r>
              <a:t>PDF/Excel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D4A03C"/>
                </a:solidFill>
                <a:latin typeface="Calibri Light"/>
              </a:defRPr>
            </a:pPr>
            <a: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Méthodologie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A0C4E8"/>
                </a:solidFill>
                <a:latin typeface="Calibri Light"/>
              </a:defRPr>
            </a:pPr>
            <a:r>
              <a:t>Approche de développement et architecture technique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MÉTHODOLOGIE AGILE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645920"/>
            <a:ext cx="731520" cy="731520"/>
          </a:xfrm>
          <a:prstGeom prst="ellipse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Analyse</a:t>
            </a:r>
            <a:br/>
            <a:r>
              <a:t>&amp; Besoins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Étude de l'existant</a:t>
            </a:r>
            <a:br/>
            <a:r>
              <a:t>Recueil des besoins</a:t>
            </a:r>
            <a:br/>
            <a:r>
              <a:t>Cahier des charges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920240"/>
            <a:ext cx="274320" cy="36576"/>
          </a:xfrm>
          <a:prstGeom prst="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1645920"/>
            <a:ext cx="731520" cy="731520"/>
          </a:xfrm>
          <a:prstGeom prst="ellipse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7556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Conception</a:t>
            </a:r>
            <a:br/>
            <a:r>
              <a:t>&amp;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Modélisation UML</a:t>
            </a:r>
            <a:br/>
            <a:r>
              <a:t>Maquettes UI/UX</a:t>
            </a:r>
            <a:br/>
            <a:r>
              <a:t>Architecture logicielle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920240"/>
            <a:ext cx="274320" cy="36576"/>
          </a:xfrm>
          <a:prstGeom prst="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1645920"/>
            <a:ext cx="731520" cy="731520"/>
          </a:xfrm>
          <a:prstGeom prst="ellipse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7556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Développement</a:t>
            </a:r>
            <a:br/>
            <a:r>
              <a:t>Itératif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Sprints Agiles</a:t>
            </a:r>
            <a:br/>
            <a:r>
              <a:t>Intégration Continue</a:t>
            </a:r>
            <a:br/>
            <a:r>
              <a:t>Tests unitaires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920240"/>
            <a:ext cx="274320" cy="36576"/>
          </a:xfrm>
          <a:prstGeom prst="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0" y="1645920"/>
            <a:ext cx="731520" cy="731520"/>
          </a:xfrm>
          <a:prstGeom prst="ellipse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17556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Tests &amp;</a:t>
            </a:r>
            <a:br/>
            <a: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Tests d'intégration</a:t>
            </a:r>
            <a:br/>
            <a:r>
              <a:t>Tests utilisateurs</a:t>
            </a:r>
            <a:br/>
            <a:r>
              <a:t>Corrections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920240"/>
            <a:ext cx="274320" cy="36576"/>
          </a:xfrm>
          <a:prstGeom prst="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645920"/>
            <a:ext cx="731520" cy="73152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755648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560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Déploiement</a:t>
            </a:r>
            <a:br/>
            <a:r>
              <a:t>&amp; 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2918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Mise en production</a:t>
            </a:r>
            <a:br/>
            <a:r>
              <a:t>Formation utilisateurs</a:t>
            </a:r>
            <a:br/>
            <a:r>
              <a:t>Documentation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Approche itérative et incrémentale permettant une adaptation continue aux besoins du client. Chaque sprint produit un incrément fonctionnel testé et validé.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ARCHITECTURE TECHNIQUE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200400" cy="47548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3C96D4"/>
                </a:solidFill>
                <a:latin typeface="Calibri"/>
              </a:defRPr>
            </a:pPr>
            <a:r>
              <a:t>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Angular 19 (TypeScript)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Angular Material (UI)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SCSS / CSS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Chart.js + ng2-charts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Leaflet (Cartes GPS)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JWT Interceptor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Routing Guards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Services Angular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657600" cy="47548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D4A03C"/>
                </a:solidFill>
                <a:latin typeface="Calibri"/>
              </a:defRPr>
            </a:pPr>
            <a:r>
              <a:t>  API /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Django 5.2 + DRF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JWT Auth (Simple JWT)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17 Applications Django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drf-spectacular (Swagger)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Django Channels (WebSocket)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Celery + Redis (Async Tasks)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ReportLab (PDF)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openpyxl (Excel)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2E7D32"/>
                </a:solidFill>
                <a:latin typeface="Calibri"/>
              </a:defRPr>
            </a:pPr>
            <a:r>
              <a:t>  BASE DE DONNÉES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PostgreSQL 16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PostGIS 3.4 (Géospatial)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17 modèles de données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Soft Delete (suppression douce)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Audit Trail immuable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Relations hiérarchiques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Index optimisés</a:t>
            </a:r>
          </a:p>
          <a:p>
            <a:pPr algn="l">
              <a:lnSpc>
                <a:spcPts val="1679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●  UUID &amp; séquences auto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D4A03C"/>
                </a:solidFill>
                <a:latin typeface="Calibri Light"/>
              </a:defRPr>
            </a:pPr>
            <a: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Modélisation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A0C4E8"/>
                </a:solidFill>
                <a:latin typeface="Calibri Light"/>
              </a:defRPr>
            </a:pPr>
            <a:r>
              <a:t>Modèles de données et structure applicative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MODÈLES PRINCIPAUX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0B1D3A"/>
                </a:solidFill>
                <a:latin typeface="Calibri"/>
              </a:defRPr>
            </a:pPr>
            <a:r>
              <a:t>Membre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Numéro auto, statut, baptême,</a:t>
            </a:r>
            <a:br/>
            <a:r>
              <a:t>transferts, contacts urgence,</a:t>
            </a:r>
            <a:br/>
            <a:r>
              <a:t>appartenance familiale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651760" cy="54864"/>
          </a:xfrm>
          <a:prstGeom prst="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0B1D3A"/>
                </a:solidFill>
                <a:latin typeface="Calibri"/>
              </a:defRPr>
            </a:pPr>
            <a:r>
              <a:t>Entité Hiérarchique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103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Arbre multi-dénomination,</a:t>
            </a:r>
            <a:br/>
            <a:r>
              <a:t>10 types d'entités, validation</a:t>
            </a:r>
            <a:br/>
            <a:r>
              <a:t>de parenté strict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0B1D3A"/>
                </a:solidFill>
                <a:latin typeface="Calibri"/>
              </a:defRPr>
            </a:pPr>
            <a:r>
              <a:t>Don / Dîme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7 statuts, reçus PDF,</a:t>
            </a:r>
            <a:br/>
            <a:r>
              <a:t>redistribution automatique,</a:t>
            </a:r>
            <a:br/>
            <a:r>
              <a:t>6 modes de paiement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6304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463040"/>
            <a:ext cx="2651760" cy="54864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0B1D3A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103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Recettes, dépenses, budgets,</a:t>
            </a:r>
            <a:br/>
            <a:r>
              <a:t>justificatifs, validation</a:t>
            </a:r>
            <a:br/>
            <a:r>
              <a:t>multi-niveaux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0B1D3A"/>
                </a:solidFill>
                <a:latin typeface="Calibri"/>
              </a:defRPr>
            </a:pPr>
            <a:r>
              <a:t>Session Culte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Présences individuelles,</a:t>
            </a:r>
            <a:br/>
            <a:r>
              <a:t>comptage démographique,</a:t>
            </a:r>
            <a:br/>
            <a:r>
              <a:t>6 types de 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02336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4023360"/>
            <a:ext cx="2651760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0B1D3A"/>
                </a:solidFill>
                <a:latin typeface="Calibri"/>
              </a:defRPr>
            </a:pPr>
            <a:r>
              <a:t>Suivi Pastoral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Actions, confidentialité,</a:t>
            </a:r>
            <a:br/>
            <a:r>
              <a:t>planification, historique</a:t>
            </a:r>
            <a:br/>
            <a:r>
              <a:t>et clôture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2651760" cy="54864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0B1D3A"/>
                </a:solidFill>
                <a:latin typeface="Calibri"/>
              </a:defRPr>
            </a:pPr>
            <a:r>
              <a:t>Département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Types de ministères,</a:t>
            </a:r>
            <a:br/>
            <a:r>
              <a:t>plans annuels, budget,</a:t>
            </a:r>
            <a:br/>
            <a:r>
              <a:t>membres affectés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02336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4023360"/>
            <a:ext cx="2651760" cy="54864"/>
          </a:xfrm>
          <a:prstGeom prst="rect">
            <a:avLst/>
          </a:prstGeom>
          <a:solidFill>
            <a:srgbClr val="E8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4206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  <a:defRPr sz="1500" b="1">
                <a:solidFill>
                  <a:srgbClr val="0B1D3A"/>
                </a:solidFill>
                <a:latin typeface="Calibri"/>
              </a:defRPr>
            </a:pPr>
            <a:r>
              <a:t>Événement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6634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8 types, participants,</a:t>
            </a:r>
            <a:br/>
            <a:r>
              <a:t>statuts, budgets prévus</a:t>
            </a:r>
            <a:br/>
            <a:r>
              <a:t>vs réels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HIÉRARCHIE PAR DÉNOMINATION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47548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1E56A0"/>
                </a:solidFill>
                <a:latin typeface="Calibri"/>
              </a:defRPr>
            </a:pPr>
            <a:r>
              <a:t>  ADVENTISTE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2926080" cy="411480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▸ Conférence Générale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292608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▸   ▸ Division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2926080" cy="411480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▸   ▸   ▸ Union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292608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▸   ▸   ▸   ▸ Fédération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2926080" cy="411480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▸   ▸   ▸   ▸   ▸ Mission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2926080" cy="41148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▸   ▸   ▸   ▸   ▸   ▸ Église Locale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20640"/>
            <a:ext cx="2926080" cy="411480"/>
          </a:xfrm>
          <a:prstGeom prst="round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▸   ▸   ▸   ▸   ▸   ▸   ▸ Chapelle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463040"/>
            <a:ext cx="3474720" cy="47548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D4A03C"/>
                </a:solidFill>
                <a:latin typeface="Calibri"/>
              </a:defRPr>
            </a:pPr>
            <a:r>
              <a:t>  CATHOLIQUE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103120"/>
            <a:ext cx="2926080" cy="54864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▸ Diocèse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834640"/>
            <a:ext cx="2926080" cy="54864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▸   ▸ Paroisse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566160"/>
            <a:ext cx="2926080" cy="54864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▸   ▸   ▸ Chapelle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463040"/>
            <a:ext cx="3474720" cy="47548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2E7D32"/>
                </a:solidFill>
                <a:latin typeface="Calibri"/>
              </a:defRPr>
            </a:pPr>
            <a:r>
              <a:t>  PROTESTANT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103120"/>
            <a:ext cx="2926080" cy="5486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▸ Union Protestante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2834640"/>
            <a:ext cx="2926080" cy="5486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▸   ▸ Église Protestante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3566160"/>
            <a:ext cx="2926080" cy="548640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▸   ▸   ▸ Chapelle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D4A03C"/>
                </a:solidFill>
                <a:latin typeface="Calibri Light"/>
              </a:defRPr>
            </a:pPr>
            <a: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Technologies utilisées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A0C4E8"/>
                </a:solidFill>
                <a:latin typeface="Calibri Light"/>
              </a:defRPr>
            </a:pPr>
            <a:r>
              <a:t>Stack technique complète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STACK TECHNIQUE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194560"/>
          </a:xfrm>
          <a:prstGeom prst="rect">
            <a:avLst/>
          </a:prstGeom>
          <a:solidFill>
            <a:srgbClr val="1E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Django 5.2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Django REST Framework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JWT Authentication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Django 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73152" cy="2194560"/>
          </a:xfrm>
          <a:prstGeom prst="rect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Angular 19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Angular Material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TypeScript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SCSS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73152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Base de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PostgreSQL 16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PostGIS 3.4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PostGIS Géospatial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46304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463040"/>
            <a:ext cx="73152" cy="2194560"/>
          </a:xfrm>
          <a:prstGeom prst="rect">
            <a:avLst/>
          </a:prstGeom>
          <a:solidFill>
            <a:srgbClr val="E8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Déploiement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01168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Docker &amp; Compose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Gunicorn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Nginx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WhiteNoise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73152" cy="2194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Async &amp;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Celery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Redis Broker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WebSocket (Daphne)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Tâches différées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02336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4023360"/>
            <a:ext cx="73152" cy="219456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5720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ReportLab (PDF)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openpyxl (Excel)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drf-spectacular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Swagger/OpenAPI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73152" cy="2194560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Sécurité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5720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RBAC (11 rôles)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JWT Token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Blacklisting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Audit Trail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023360"/>
            <a:ext cx="26517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98280" y="4023360"/>
            <a:ext cx="73152" cy="21945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7260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Cartes &amp;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5720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Leaflet (GPS)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Chart.js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ng2-charts</a:t>
            </a:r>
          </a:p>
          <a:p>
            <a:pPr algn="l">
              <a:lnSpc>
                <a:spcPts val="1539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●  Angular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286000"/>
            <a:ext cx="1097280" cy="54864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D4A03C"/>
                </a:solidFill>
                <a:latin typeface="Calibri Light"/>
              </a:defRPr>
            </a:pPr>
            <a: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400"/>
              </a:spcAft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A0C4E8"/>
                </a:solidFill>
                <a:latin typeface="Calibri Light"/>
              </a:defRPr>
            </a:pPr>
            <a:r>
              <a:t>Améliorations futures et axes de développement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400"/>
              </a:spcAft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AXES D'AMÉLIORATION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3C9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Application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Développer une application</a:t>
            </a:r>
            <a:br/>
            <a:r>
              <a:t>mobile (React Native / Flutter)</a:t>
            </a:r>
            <a:br/>
            <a:r>
              <a:t>pour un accès sur tablette</a:t>
            </a:r>
            <a:br/>
            <a:r>
              <a:t>et smartphone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Intelligence Artificielle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Prédiction de l'assistance,</a:t>
            </a:r>
            <a:br/>
            <a:r>
              <a:t>analyse des dons,</a:t>
            </a:r>
            <a:br/>
            <a:r>
              <a:t>recommandations pastorales</a:t>
            </a:r>
            <a:br/>
            <a:r>
              <a:t>basées sur l'IA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691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Paiements Mobile 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Intégration de M-Pesa,</a:t>
            </a:r>
            <a:br/>
            <a:r>
              <a:t>Orange Money, Airtel Money</a:t>
            </a:r>
            <a:br/>
            <a:r>
              <a:t>pour les dons et cotisations</a:t>
            </a:r>
            <a:br/>
            <a:r>
              <a:t>en ligne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Multilingue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Support du Français,</a:t>
            </a:r>
            <a:br/>
            <a:r>
              <a:t>Anglais, Lingala et autres</a:t>
            </a:r>
            <a:br/>
            <a:r>
              <a:t>langues locales pour</a:t>
            </a:r>
            <a:br/>
            <a:r>
              <a:t>l'expansion internationale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02336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80560" y="4206240"/>
            <a:ext cx="457200" cy="45720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Reporting Avancé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Tableaux de bord interactifs,</a:t>
            </a:r>
            <a:br/>
            <a:r>
              <a:t>exports personnalisés,</a:t>
            </a:r>
            <a:br/>
            <a:r>
              <a:t>scores pastoraux,</a:t>
            </a:r>
            <a:br/>
            <a:r>
              <a:t>benchmark inter-églises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023360"/>
            <a:ext cx="3474720" cy="2194560"/>
          </a:xfrm>
          <a:prstGeom prst="round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21040" y="4206240"/>
            <a:ext cx="457200" cy="457200"/>
          </a:xfrm>
          <a:prstGeom prst="ellipse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4251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B1D3A"/>
                </a:solidFill>
                <a:latin typeface="Calibri"/>
              </a:defRPr>
            </a:pPr>
            <a:r>
              <a:t>Microservices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8463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Migration vers une</a:t>
            </a:r>
            <a:br/>
            <a:r>
              <a:t>architecture microservices</a:t>
            </a:r>
            <a:br/>
            <a:r>
              <a:t>pour une meilleure</a:t>
            </a:r>
            <a:br/>
            <a:r>
              <a:t>scalabilité et maintenabilité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274320"/>
            <a:ext cx="2743200" cy="2743200"/>
          </a:xfrm>
          <a:prstGeom prst="ellipse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4572000"/>
            <a:ext cx="1828800" cy="1828800"/>
          </a:xfrm>
          <a:prstGeom prst="ellipse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680"/>
              </a:lnSpc>
              <a:spcAft>
                <a:spcPts val="400"/>
              </a:spcAft>
              <a:defRPr sz="6400" b="1">
                <a:solidFill>
                  <a:srgbClr val="FFFFFF"/>
                </a:solidFill>
                <a:latin typeface="Calibri Light"/>
              </a:defRPr>
            </a:pPr>
            <a:r>
              <a:t>Merci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2103120" cy="4572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>
                <a:solidFill>
                  <a:srgbClr val="A0C4E8"/>
                </a:solidFill>
                <a:latin typeface="Calibri Light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Lindsay Sarah  •  Ecclesia Gestion  •  2025-2026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Aft>
                <a:spcPts val="40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